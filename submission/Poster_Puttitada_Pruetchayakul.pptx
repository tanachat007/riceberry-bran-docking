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28803600" cy="51117500"/>
  <p:notesSz cx="6858000" cy="9144000"/>
  <p:embeddedFontLst>
    <p:embeddedFont>
      <p:font typeface="Inter" panose="020B0604020202020204" charset="0"/>
      <p:regular r:id="rId3"/>
    </p:embeddedFont>
    <p:embeddedFont>
      <p:font typeface="Inter Italics" panose="020B0604020202020204" charset="0"/>
      <p:regular r:id="rId4"/>
    </p:embeddedFont>
    <p:embeddedFont>
      <p:font typeface="Sarabun" panose="020B0604020202020204" charset="-34"/>
      <p:regular r:id="rId5"/>
    </p:embeddedFont>
    <p:embeddedFont>
      <p:font typeface="Sarabun Bold" panose="020B0604020202020204" charset="-34"/>
      <p:regular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14" d="100"/>
          <a:sy n="14" d="100"/>
        </p:scale>
        <p:origin x="3564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font" Target="fonts/font3.fntdata"/><Relationship Id="rId6" Type="http://schemas.openxmlformats.org/officeDocument/2006/relationships/font" Target="fonts/font4.fntdata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-2" y="-62203"/>
            <a:ext cx="29032201" cy="3055221"/>
            <a:chOff x="0" y="0"/>
            <a:chExt cx="38608000" cy="51966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608000" cy="5196679"/>
            </a:xfrm>
            <a:custGeom>
              <a:avLst/>
              <a:gdLst/>
              <a:ahLst/>
              <a:cxnLst/>
              <a:rect l="l" t="t" r="r" b="b"/>
              <a:pathLst>
                <a:path w="38608000" h="5196679">
                  <a:moveTo>
                    <a:pt x="0" y="0"/>
                  </a:moveTo>
                  <a:lnTo>
                    <a:pt x="38608000" y="0"/>
                  </a:lnTo>
                  <a:lnTo>
                    <a:pt x="38608000" y="5196679"/>
                  </a:lnTo>
                  <a:lnTo>
                    <a:pt x="0" y="5196679"/>
                  </a:lnTo>
                  <a:close/>
                </a:path>
              </a:pathLst>
            </a:custGeom>
            <a:gradFill rotWithShape="1">
              <a:gsLst>
                <a:gs pos="0">
                  <a:srgbClr val="21384D">
                    <a:alpha val="100000"/>
                  </a:srgbClr>
                </a:gs>
                <a:gs pos="25000">
                  <a:srgbClr val="4D6D8B">
                    <a:alpha val="100000"/>
                  </a:srgbClr>
                </a:gs>
                <a:gs pos="50000">
                  <a:srgbClr val="95B7D6">
                    <a:alpha val="100000"/>
                  </a:srgbClr>
                </a:gs>
                <a:gs pos="75000">
                  <a:srgbClr val="E6EEF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38608000" cy="5196678"/>
            </a:xfrm>
            <a:prstGeom prst="rect">
              <a:avLst/>
            </a:prstGeom>
          </p:spPr>
          <p:txBody>
            <a:bodyPr lIns="10155" tIns="10155" rIns="10155" bIns="10155" rtlCol="0" anchor="ctr"/>
            <a:lstStyle/>
            <a:p>
              <a:pPr algn="ctr">
                <a:lnSpc>
                  <a:spcPts val="2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2072476" y="525547"/>
            <a:ext cx="4896603" cy="3053380"/>
          </a:xfrm>
          <a:custGeom>
            <a:avLst/>
            <a:gdLst/>
            <a:ahLst/>
            <a:cxnLst/>
            <a:rect l="l" t="t" r="r" b="b"/>
            <a:pathLst>
              <a:path w="4313997" h="3053380">
                <a:moveTo>
                  <a:pt x="0" y="0"/>
                </a:moveTo>
                <a:lnTo>
                  <a:pt x="4313997" y="0"/>
                </a:lnTo>
                <a:lnTo>
                  <a:pt x="4313997" y="3053380"/>
                </a:lnTo>
                <a:lnTo>
                  <a:pt x="0" y="30533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6" name="Freeform 6"/>
          <p:cNvSpPr/>
          <p:nvPr/>
        </p:nvSpPr>
        <p:spPr>
          <a:xfrm rot="-8715722">
            <a:off x="1648893" y="-291375"/>
            <a:ext cx="7801249" cy="4864634"/>
          </a:xfrm>
          <a:custGeom>
            <a:avLst/>
            <a:gdLst/>
            <a:ahLst/>
            <a:cxnLst/>
            <a:rect l="l" t="t" r="r" b="b"/>
            <a:pathLst>
              <a:path w="6873044" h="4864634">
                <a:moveTo>
                  <a:pt x="0" y="0"/>
                </a:moveTo>
                <a:lnTo>
                  <a:pt x="6873044" y="0"/>
                </a:lnTo>
                <a:lnTo>
                  <a:pt x="6873044" y="4864634"/>
                </a:lnTo>
                <a:lnTo>
                  <a:pt x="0" y="48646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</a:blip>
            <a:stretch>
              <a:fillRect/>
            </a:stretch>
          </a:blipFill>
        </p:spPr>
        <p:txBody>
          <a:bodyPr/>
          <a:p/>
        </p:txBody>
      </p:sp>
      <p:grpSp>
        <p:nvGrpSpPr>
          <p:cNvPr id="7" name="Group 7"/>
          <p:cNvGrpSpPr/>
          <p:nvPr/>
        </p:nvGrpSpPr>
        <p:grpSpPr>
          <a:xfrm>
            <a:off x="2181538" y="7565210"/>
            <a:ext cx="24564662" cy="36784727"/>
            <a:chOff x="0" y="0"/>
            <a:chExt cx="3201614" cy="555963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201614" cy="5559632"/>
            </a:xfrm>
            <a:custGeom>
              <a:avLst/>
              <a:gdLst/>
              <a:ahLst/>
              <a:cxnLst/>
              <a:rect l="l" t="t" r="r" b="b"/>
              <a:pathLst>
                <a:path w="3201614" h="5559632">
                  <a:moveTo>
                    <a:pt x="16357" y="0"/>
                  </a:moveTo>
                  <a:lnTo>
                    <a:pt x="3185258" y="0"/>
                  </a:lnTo>
                  <a:cubicBezTo>
                    <a:pt x="3194291" y="0"/>
                    <a:pt x="3201614" y="7323"/>
                    <a:pt x="3201614" y="16357"/>
                  </a:cubicBezTo>
                  <a:lnTo>
                    <a:pt x="3201614" y="5543275"/>
                  </a:lnTo>
                  <a:cubicBezTo>
                    <a:pt x="3201614" y="5552308"/>
                    <a:pt x="3194291" y="5559632"/>
                    <a:pt x="3185258" y="5559632"/>
                  </a:cubicBezTo>
                  <a:lnTo>
                    <a:pt x="16357" y="5559632"/>
                  </a:lnTo>
                  <a:cubicBezTo>
                    <a:pt x="7323" y="5559632"/>
                    <a:pt x="0" y="5552308"/>
                    <a:pt x="0" y="5543275"/>
                  </a:cubicBezTo>
                  <a:lnTo>
                    <a:pt x="0" y="16357"/>
                  </a:lnTo>
                  <a:cubicBezTo>
                    <a:pt x="0" y="7323"/>
                    <a:pt x="7323" y="0"/>
                    <a:pt x="16357" y="0"/>
                  </a:cubicBezTo>
                  <a:close/>
                </a:path>
              </a:pathLst>
            </a:custGeom>
            <a:solidFill>
              <a:srgbClr val="FFFFFF"/>
            </a:solidFill>
            <a:ln w="37571" cap="rnd">
              <a:solidFill>
                <a:srgbClr val="18468C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95250"/>
              <a:ext cx="3201614" cy="5654882"/>
            </a:xfrm>
            <a:prstGeom prst="rect">
              <a:avLst/>
            </a:prstGeom>
          </p:spPr>
          <p:txBody>
            <a:bodyPr lIns="96762" tIns="96762" rIns="96762" bIns="96762" rtlCol="0" anchor="ctr"/>
            <a:lstStyle/>
            <a:p>
              <a:pPr algn="ctr">
                <a:lnSpc>
                  <a:spcPts val="6913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2305980" y="637147"/>
            <a:ext cx="2850766" cy="1610098"/>
          </a:xfrm>
          <a:custGeom>
            <a:avLst/>
            <a:gdLst/>
            <a:ahLst/>
            <a:cxnLst/>
            <a:rect l="l" t="t" r="r" b="b"/>
            <a:pathLst>
              <a:path w="2850766" h="1610098">
                <a:moveTo>
                  <a:pt x="0" y="0"/>
                </a:moveTo>
                <a:lnTo>
                  <a:pt x="2850766" y="0"/>
                </a:lnTo>
                <a:lnTo>
                  <a:pt x="2850766" y="1610098"/>
                </a:lnTo>
                <a:lnTo>
                  <a:pt x="0" y="16100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p/>
        </p:txBody>
      </p:sp>
      <p:sp>
        <p:nvSpPr>
          <p:cNvPr id="11" name="TextBox 11"/>
          <p:cNvSpPr txBox="1"/>
          <p:nvPr/>
        </p:nvSpPr>
        <p:spPr>
          <a:xfrm>
            <a:off x="1676400" y="3395991"/>
            <a:ext cx="26156879" cy="17725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7336"/>
              </a:lnSpc>
              <a:spcBef>
                <a:spcPct val="0"/>
              </a:spcBef>
            </a:pPr>
            <a:r>
              <a:rPr lang="en-US" sz="4891" b="1" dirty="0">
                <a:solidFill>
                  <a:srgbClr val="004AAD"/>
                </a:solidFill>
                <a:latin typeface="Sarabun Bold"/>
                <a:ea typeface="Sarabun Bold"/>
                <a:cs typeface="Sarabun Bold"/>
                <a:sym typeface="Sarabun Bold"/>
              </a:rPr>
              <a:t>DOCKING-BASED PRIORITISATION OF RICEBERRY BRAN CONSTITUENTS AGAINST HUMAN α-GLUCOSIDASE AND α-AMYLASE FOR BY-PRODUCT VALORISATION</a:t>
            </a:r>
            <a:r>
              <a:rPr lang="en-US" sz="4891" b="1" u="none" dirty="0">
                <a:solidFill>
                  <a:srgbClr val="004AAD"/>
                </a:solidFill>
                <a:latin typeface="Sarabun Bold"/>
                <a:ea typeface="Sarabun Bold"/>
                <a:cs typeface="Sarabun Bold"/>
                <a:sym typeface="Sarabun Bold"/>
              </a:rPr>
              <a:t/>
            </a:r>
          </a:p>
          <a:p>
            <a:pPr marL="0" lvl="0" indent="0" algn="ctr">
              <a:lnSpc>
                <a:spcPts val="7336"/>
              </a:lnSpc>
              <a:spcBef>
                <a:spcPct val="0"/>
              </a:spcBef>
            </a:pPr>
            <a:r>
              <a:rPr lang="en-US" sz="4891" b="1" u="none" dirty="0">
                <a:solidFill>
                  <a:srgbClr val="004AAD"/>
                </a:solidFill>
                <a:latin typeface="Sarabun Bold"/>
                <a:ea typeface="Sarabun Bold"/>
                <a:cs typeface="Sarabun Bold"/>
                <a:sym typeface="Sarabun Bold"/>
              </a:rPr>
              <a:t/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488883" y="5468975"/>
            <a:ext cx="24564662" cy="17132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638"/>
              </a:lnSpc>
            </a:pPr>
            <a:r>
              <a:rPr lang="en-US" sz="3312" u="none" strike="noStrike" spc="-13" dirty="0" err="1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Puttitada Pruetchayakul*</a:t>
            </a:r>
            <a:r>
              <a:rPr lang="en-US" sz="3312" u="none" strike="noStrike" spc="-13" dirty="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/>
            </a:r>
            <a:r>
              <a:rPr lang="en-US" sz="3312" u="none" strike="noStrike" spc="-13" dirty="0" err="1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/>
            </a:r>
            <a:r>
              <a:rPr lang="en-US" sz="3312" u="none" strike="noStrike" spc="-13" dirty="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/>
            </a:r>
            <a:r>
              <a:rPr lang="en-US" sz="3312" u="none" strike="noStrike" spc="-13" dirty="0" err="1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/>
            </a:r>
            <a:r>
              <a:rPr lang="en-US" sz="3312" u="none" strike="noStrike" spc="-13" dirty="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/>
            </a:r>
          </a:p>
          <a:p>
            <a:pPr marL="0" lvl="0" indent="0" algn="ctr">
              <a:lnSpc>
                <a:spcPts val="4638"/>
              </a:lnSpc>
            </a:pPr>
            <a:r>
              <a:rPr lang="en-US" sz="3312" u="none" strike="noStrike" spc="-13" dirty="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Bodindecha (Sing Singhaseni) School, Bangkok, Thailand</a:t>
            </a:r>
          </a:p>
          <a:p>
            <a:pPr marL="0" lvl="0" indent="0" algn="ctr">
              <a:lnSpc>
                <a:spcPts val="4638"/>
              </a:lnSpc>
            </a:pPr>
            <a:r>
              <a:rPr lang="en-US" sz="3312" u="none" strike="noStrike" spc="-13" dirty="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/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581024" y="44863266"/>
            <a:ext cx="16265981" cy="4521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754"/>
              </a:lnSpc>
              <a:spcBef>
                <a:spcPct val="0"/>
              </a:spcBef>
            </a:pPr>
            <a:r>
              <a:rPr lang="en-US" sz="3155" spc="-12" dirty="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>*Corresponding author: Puttitada Pruetchayakul (graciepiewppiew@gmail.com)</a:t>
            </a:r>
            <a:r>
              <a:rPr lang="en-US" sz="3155" spc="-12" dirty="0" err="1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/>
            </a:r>
            <a:r>
              <a:rPr lang="en-US" sz="3155" spc="-12" dirty="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rPr>
              <a:t/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538145" y="1426076"/>
            <a:ext cx="8830198" cy="5601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90"/>
              </a:lnSpc>
            </a:pPr>
            <a:r>
              <a:rPr lang="en-US" sz="3350" i="1" dirty="0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Real World Impact in Food and Nutrition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3261941" y="1995941"/>
            <a:ext cx="3613391" cy="487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08"/>
              </a:lnSpc>
            </a:pPr>
            <a:r>
              <a:rPr lang="en-US" sz="2863" dirty="0">
                <a:solidFill>
                  <a:srgbClr val="D4AF49"/>
                </a:solidFill>
                <a:latin typeface="Inter"/>
                <a:ea typeface="Inter"/>
                <a:cs typeface="Inter"/>
                <a:sym typeface="Inter"/>
              </a:rPr>
              <a:t>11 – 12 February 2027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6219403" y="488950"/>
            <a:ext cx="12584197" cy="843947"/>
            <a:chOff x="0" y="0"/>
            <a:chExt cx="13114644" cy="1125263"/>
          </a:xfrm>
        </p:grpSpPr>
        <p:sp>
          <p:nvSpPr>
            <p:cNvPr id="17" name="TextBox 17"/>
            <p:cNvSpPr txBox="1"/>
            <p:nvPr/>
          </p:nvSpPr>
          <p:spPr>
            <a:xfrm>
              <a:off x="0" y="-85130"/>
              <a:ext cx="13114644" cy="11845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301"/>
                </a:lnSpc>
              </a:pPr>
              <a:r>
                <a:rPr lang="en-US" sz="6644" spc="-132" dirty="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–Year Journey of INMU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85750" y="-123825"/>
              <a:ext cx="1157778" cy="12490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974"/>
                </a:lnSpc>
                <a:spcBef>
                  <a:spcPct val="0"/>
                </a:spcBef>
              </a:pPr>
              <a:r>
                <a:rPr lang="en-US" sz="7124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50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 rot="-10800000">
            <a:off x="-1" y="47719325"/>
            <a:ext cx="28879799" cy="3413609"/>
            <a:chOff x="0" y="0"/>
            <a:chExt cx="38608000" cy="459619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8608000" cy="4596190"/>
            </a:xfrm>
            <a:custGeom>
              <a:avLst/>
              <a:gdLst/>
              <a:ahLst/>
              <a:cxnLst/>
              <a:rect l="l" t="t" r="r" b="b"/>
              <a:pathLst>
                <a:path w="38608000" h="4596190">
                  <a:moveTo>
                    <a:pt x="0" y="0"/>
                  </a:moveTo>
                  <a:lnTo>
                    <a:pt x="38608000" y="0"/>
                  </a:lnTo>
                  <a:lnTo>
                    <a:pt x="38608000" y="4596190"/>
                  </a:lnTo>
                  <a:lnTo>
                    <a:pt x="0" y="4596190"/>
                  </a:lnTo>
                  <a:close/>
                </a:path>
              </a:pathLst>
            </a:custGeom>
            <a:gradFill rotWithShape="1">
              <a:gsLst>
                <a:gs pos="0">
                  <a:srgbClr val="21384D">
                    <a:alpha val="100000"/>
                  </a:srgbClr>
                </a:gs>
                <a:gs pos="25000">
                  <a:srgbClr val="4D6D8B">
                    <a:alpha val="100000"/>
                  </a:srgbClr>
                </a:gs>
                <a:gs pos="50000">
                  <a:srgbClr val="95B7D6">
                    <a:alpha val="100000"/>
                  </a:srgbClr>
                </a:gs>
                <a:gs pos="75000">
                  <a:srgbClr val="E6EEF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21" name="TextBox 21"/>
            <p:cNvSpPr txBox="1"/>
            <p:nvPr/>
          </p:nvSpPr>
          <p:spPr>
            <a:xfrm>
              <a:off x="0" y="0"/>
              <a:ext cx="38608000" cy="4596190"/>
            </a:xfrm>
            <a:prstGeom prst="rect">
              <a:avLst/>
            </a:prstGeom>
          </p:spPr>
          <p:txBody>
            <a:bodyPr lIns="10155" tIns="10155" rIns="10155" bIns="10155" rtlCol="0" anchor="ctr"/>
            <a:lstStyle/>
            <a:p>
              <a:pPr algn="ctr">
                <a:lnSpc>
                  <a:spcPts val="2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12072476" y="49018504"/>
            <a:ext cx="4313997" cy="3053380"/>
          </a:xfrm>
          <a:custGeom>
            <a:avLst/>
            <a:gdLst/>
            <a:ahLst/>
            <a:cxnLst/>
            <a:rect l="l" t="t" r="r" b="b"/>
            <a:pathLst>
              <a:path w="4313997" h="3053380">
                <a:moveTo>
                  <a:pt x="0" y="0"/>
                </a:moveTo>
                <a:lnTo>
                  <a:pt x="4313997" y="0"/>
                </a:lnTo>
                <a:lnTo>
                  <a:pt x="4313997" y="3053380"/>
                </a:lnTo>
                <a:lnTo>
                  <a:pt x="0" y="30533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23" name="Freeform 23"/>
          <p:cNvSpPr/>
          <p:nvPr/>
        </p:nvSpPr>
        <p:spPr>
          <a:xfrm rot="-8715722">
            <a:off x="2715846" y="49396431"/>
            <a:ext cx="7560077" cy="5350905"/>
          </a:xfrm>
          <a:custGeom>
            <a:avLst/>
            <a:gdLst/>
            <a:ahLst/>
            <a:cxnLst/>
            <a:rect l="l" t="t" r="r" b="b"/>
            <a:pathLst>
              <a:path w="7560077" h="5350905">
                <a:moveTo>
                  <a:pt x="0" y="0"/>
                </a:moveTo>
                <a:lnTo>
                  <a:pt x="7560077" y="0"/>
                </a:lnTo>
                <a:lnTo>
                  <a:pt x="7560077" y="5350905"/>
                </a:lnTo>
                <a:lnTo>
                  <a:pt x="0" y="53509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24" name="AutoShape 24"/>
          <p:cNvSpPr/>
          <p:nvPr/>
        </p:nvSpPr>
        <p:spPr>
          <a:xfrm flipV="1">
            <a:off x="26822400" y="48266350"/>
            <a:ext cx="0" cy="1978854"/>
          </a:xfrm>
          <a:prstGeom prst="line">
            <a:avLst/>
          </a:prstGeom>
          <a:ln w="57150" cap="flat">
            <a:solidFill>
              <a:srgbClr val="D4AF49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5" name="TextBox 25"/>
          <p:cNvSpPr txBox="1"/>
          <p:nvPr/>
        </p:nvSpPr>
        <p:spPr>
          <a:xfrm>
            <a:off x="18688146" y="48318796"/>
            <a:ext cx="7836190" cy="17875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4786"/>
              </a:lnSpc>
            </a:pPr>
            <a:r>
              <a:rPr lang="en-US" sz="3088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Website: https://inmu.mahidol.ac.th/50th</a:t>
            </a:r>
          </a:p>
          <a:p>
            <a:pPr algn="r">
              <a:lnSpc>
                <a:spcPts val="4786"/>
              </a:lnSpc>
            </a:pPr>
            <a:r>
              <a:rPr lang="en-US" sz="3088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E-mail: inmu50th@gmail.com</a:t>
            </a:r>
          </a:p>
          <a:p>
            <a:pPr algn="r">
              <a:lnSpc>
                <a:spcPts val="4786"/>
              </a:lnSpc>
            </a:pPr>
            <a:r>
              <a:rPr lang="en-US" sz="3088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LINE: @inmu50th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520000" y="7920000"/>
            <a:ext cx="11592000" cy="936000"/>
          </a:xfrm>
          <a:prstGeom prst="roundRect">
            <a:avLst>
              <a:gd name="adj" fmla="val 50000"/>
            </a:avLst>
          </a:prstGeom>
          <a:solidFill>
            <a:srgbClr val="1D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0"/>
          <a:lstStyle/>
          <a:p>
            <a:pPr algn="ctr"/>
            <a:r>
              <a:rPr sz="4600" b="1">
                <a:solidFill>
                  <a:srgbClr val="FFFFFF"/>
                </a:solidFill>
                <a:latin typeface="Sarabun"/>
              </a:rPr>
              <a:t>A BY-PRODUCT WORTH MINING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20000" y="9072000"/>
            <a:ext cx="11592000" cy="4680000"/>
          </a:xfrm>
          <a:prstGeom prst="rect">
            <a:avLst/>
          </a:prstGeom>
          <a:noFill/>
        </p:spPr>
        <p:txBody>
          <a:bodyPr wrap="square" anchor="t" lIns="72000" rIns="72000" tIns="72000" bIns="72000">
            <a:spAutoFit/>
          </a:bodyPr>
          <a:lstStyle/>
          <a:p>
            <a:pPr algn="l">
              <a:lnSpc>
                <a:spcPct val="107000"/>
              </a:lnSpc>
              <a:spcAft>
                <a:spcPts val="1215"/>
              </a:spcAft>
            </a:pPr>
            <a:r>
              <a:rPr sz="2700" b="0" i="0">
                <a:solidFill>
                  <a:srgbClr val="222633"/>
                </a:solidFill>
                <a:latin typeface="Sarabun"/>
              </a:rPr>
              <a:t>Starch becomes glucose via pancreatic </a:t>
            </a:r>
            <a:r>
              <a:rPr sz="2700" b="1" i="0">
                <a:solidFill>
                  <a:srgbClr val="222633"/>
                </a:solidFill>
                <a:latin typeface="Sarabun"/>
              </a:rPr>
              <a:t>α-amylase</a:t>
            </a:r>
            <a:r>
              <a:rPr sz="2700" b="0" i="0">
                <a:solidFill>
                  <a:srgbClr val="222633"/>
                </a:solidFill>
                <a:latin typeface="Sarabun"/>
              </a:rPr>
              <a:t> and intestinal </a:t>
            </a:r>
            <a:r>
              <a:rPr sz="2700" b="1" i="0">
                <a:solidFill>
                  <a:srgbClr val="222633"/>
                </a:solidFill>
                <a:latin typeface="Sarabun"/>
              </a:rPr>
              <a:t>α-glucosidase</a:t>
            </a:r>
            <a:r>
              <a:rPr sz="2700" b="0" i="0">
                <a:solidFill>
                  <a:srgbClr val="222633"/>
                </a:solidFill>
                <a:latin typeface="Sarabun"/>
              </a:rPr>
              <a:t>. Acarbose slows both, but is poorly tolerated (flatulence 74% vs 29% on placebo, US label).</a:t>
            </a:r>
          </a:p>
          <a:p>
            <a:pPr algn="l">
              <a:lnSpc>
                <a:spcPct val="107000"/>
              </a:lnSpc>
              <a:spcAft>
                <a:spcPts val="1215"/>
              </a:spcAft>
            </a:pPr>
            <a:r>
              <a:rPr sz="2700" b="1" i="0">
                <a:solidFill>
                  <a:srgbClr val="7A3FD1"/>
                </a:solidFill>
                <a:latin typeface="Sarabun"/>
              </a:rPr>
              <a:t>Riceberry bran</a:t>
            </a:r>
            <a:r>
              <a:rPr sz="2700" b="0" i="0">
                <a:solidFill>
                  <a:srgbClr val="222633"/>
                </a:solidFill>
                <a:latin typeface="Sarabun"/>
              </a:rPr>
              <a:t> is a low-value by-product of Thai rice milling. Pigmented-rice anthocyanins are already known </a:t>
            </a:r>
            <a:r>
              <a:rPr sz="2700" b="1" i="0">
                <a:solidFill>
                  <a:srgbClr val="222633"/>
                </a:solidFill>
                <a:latin typeface="Sarabun"/>
              </a:rPr>
              <a:t>from in vitro work</a:t>
            </a:r>
            <a:r>
              <a:rPr sz="2700" b="0" i="0">
                <a:solidFill>
                  <a:srgbClr val="222633"/>
                </a:solidFill>
                <a:latin typeface="Sarabun"/>
              </a:rPr>
              <a:t> to inhibit both enzymes (Akkarachiyasit et al., 2010).</a:t>
            </a:r>
          </a:p>
          <a:p>
            <a:pPr algn="l">
              <a:lnSpc>
                <a:spcPct val="107000"/>
              </a:lnSpc>
              <a:spcAft>
                <a:spcPts val="1215"/>
              </a:spcAft>
            </a:pPr>
            <a:r>
              <a:rPr sz="2700" b="0" i="0">
                <a:solidFill>
                  <a:srgbClr val="222633"/>
                </a:solidFill>
                <a:latin typeface="Sarabun"/>
              </a:rPr>
              <a:t>Bran carries many candidates at once, and a food ingredient must also </a:t>
            </a:r>
            <a:r>
              <a:rPr sz="2700" b="1" i="0">
                <a:solidFill>
                  <a:srgbClr val="222633"/>
                </a:solidFill>
                <a:latin typeface="Sarabun"/>
              </a:rPr>
              <a:t>dissolve where the enzymes are</a:t>
            </a:r>
            <a:r>
              <a:rPr sz="2700" b="0" i="0">
                <a:solidFill>
                  <a:srgbClr val="222633"/>
                </a:solidFill>
                <a:latin typeface="Sarabun"/>
              </a:rPr>
              <a:t>. These have never been compared on the human enzymes.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4832000" y="7920000"/>
            <a:ext cx="11592000" cy="936000"/>
          </a:xfrm>
          <a:prstGeom prst="roundRect">
            <a:avLst>
              <a:gd name="adj" fmla="val 50000"/>
            </a:avLst>
          </a:prstGeom>
          <a:solidFill>
            <a:srgbClr val="7A3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0"/>
          <a:lstStyle/>
          <a:p>
            <a:pPr algn="ctr"/>
            <a:r>
              <a:rPr sz="4600" b="1">
                <a:solidFill>
                  <a:srgbClr val="FFFFFF"/>
                </a:solidFill>
                <a:latin typeface="Sarabun"/>
              </a:rPr>
              <a:t>THE QUESTION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832000" y="9072000"/>
            <a:ext cx="11592000" cy="2880000"/>
          </a:xfrm>
          <a:prstGeom prst="rect">
            <a:avLst/>
          </a:prstGeom>
          <a:noFill/>
        </p:spPr>
        <p:txBody>
          <a:bodyPr wrap="square" anchor="t" lIns="72000" rIns="72000" tIns="72000" bIns="72000">
            <a:spAutoFit/>
          </a:bodyPr>
          <a:lstStyle/>
          <a:p>
            <a:pPr algn="l">
              <a:lnSpc>
                <a:spcPct val="107000"/>
              </a:lnSpc>
              <a:spcAft>
                <a:spcPts val="1215"/>
              </a:spcAft>
            </a:pPr>
            <a:r>
              <a:rPr sz="2700" b="0" i="0">
                <a:solidFill>
                  <a:srgbClr val="222633"/>
                </a:solidFill>
                <a:latin typeface="Sarabun"/>
              </a:rPr>
              <a:t>Riceberry bran, a </a:t>
            </a:r>
            <a:r>
              <a:rPr sz="2700" b="1" i="0">
                <a:solidFill>
                  <a:srgbClr val="7A3FD1"/>
                </a:solidFill>
                <a:latin typeface="Sarabun"/>
              </a:rPr>
              <a:t>low-value by-product</a:t>
            </a:r>
            <a:r>
              <a:rPr sz="2700" b="0" i="0">
                <a:solidFill>
                  <a:srgbClr val="222633"/>
                </a:solidFill>
                <a:latin typeface="Sarabun"/>
              </a:rPr>
              <a:t> of Thai rice mills, carries anthocyanins, γ-oryzanol, vitamin E and phenolic acids.</a:t>
            </a:r>
          </a:p>
          <a:p>
            <a:pPr algn="l">
              <a:lnSpc>
                <a:spcPct val="107000"/>
              </a:lnSpc>
              <a:spcAft>
                <a:spcPts val="1215"/>
              </a:spcAft>
            </a:pPr>
            <a:r>
              <a:rPr sz="2700" b="1" i="0">
                <a:solidFill>
                  <a:srgbClr val="222633"/>
                </a:solidFill>
                <a:latin typeface="Sarabun"/>
              </a:rPr>
              <a:t>Which fraction should a food project extract and assay first?</a:t>
            </a:r>
            <a:r>
              <a:rPr sz="2700" b="0" i="0">
                <a:solidFill>
                  <a:srgbClr val="222633"/>
                </a:solidFill>
                <a:latin typeface="Sarabun"/>
              </a:rPr>
              <a:t> That is the question this screen answers.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832000" y="12096000"/>
            <a:ext cx="11592000" cy="1728000"/>
          </a:xfrm>
          <a:prstGeom prst="roundRect">
            <a:avLst>
              <a:gd name="adj" fmla="val 6000"/>
            </a:avLst>
          </a:prstGeom>
          <a:solidFill>
            <a:srgbClr val="F4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120000" y="12240000"/>
            <a:ext cx="11016000" cy="1440000"/>
          </a:xfrm>
          <a:prstGeom prst="rect">
            <a:avLst/>
          </a:prstGeom>
          <a:noFill/>
        </p:spPr>
        <p:txBody>
          <a:bodyPr wrap="square" anchor="t" lIns="72000" rIns="72000" tIns="72000" bIns="72000">
            <a:spAutoFit/>
          </a:bodyPr>
          <a:lstStyle/>
          <a:p>
            <a:pPr algn="l">
              <a:lnSpc>
                <a:spcPct val="107000"/>
              </a:lnSpc>
              <a:spcAft>
                <a:spcPts val="1305"/>
              </a:spcAft>
            </a:pPr>
            <a:r>
              <a:rPr sz="2900" b="1" i="0">
                <a:solidFill>
                  <a:srgbClr val="7A3FD1"/>
                </a:solidFill>
                <a:latin typeface="Sarabun"/>
              </a:rPr>
              <a:t>11 bran constituents ranked on both human enzymes, scoring predicted binding </a:t>
            </a:r>
            <a:r>
              <a:rPr sz="2900" b="1" i="0">
                <a:solidFill>
                  <a:srgbClr val="7A3FD1"/>
                </a:solidFill>
                <a:latin typeface="Sarabun"/>
              </a:rPr>
              <a:t>and solubility together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20000" y="13464000"/>
            <a:ext cx="23904000" cy="936000"/>
          </a:xfrm>
          <a:prstGeom prst="roundRect">
            <a:avLst>
              <a:gd name="adj" fmla="val 50000"/>
            </a:avLst>
          </a:prstGeom>
          <a:solidFill>
            <a:srgbClr val="1D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0"/>
          <a:lstStyle/>
          <a:p>
            <a:pPr algn="ctr"/>
            <a:r>
              <a:rPr sz="4600" b="1">
                <a:solidFill>
                  <a:srgbClr val="FFFFFF"/>
                </a:solidFill>
                <a:latin typeface="Sarabun"/>
              </a:rPr>
              <a:t>MATERIALS AND METHODS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20000" y="14616000"/>
            <a:ext cx="4579200" cy="3168000"/>
          </a:xfrm>
          <a:prstGeom prst="roundRect">
            <a:avLst>
              <a:gd name="adj" fmla="val 6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00000" y="14796000"/>
            <a:ext cx="4219200" cy="2880000"/>
          </a:xfrm>
          <a:prstGeom prst="rect">
            <a:avLst/>
          </a:prstGeom>
          <a:noFill/>
        </p:spPr>
        <p:txBody>
          <a:bodyPr wrap="square" anchor="t" lIns="72000" rIns="72000" tIns="72000" bIns="72000">
            <a:spAutoFit/>
          </a:bodyPr>
          <a:lstStyle/>
          <a:p>
            <a:pPr algn="l">
              <a:lnSpc>
                <a:spcPct val="107000"/>
              </a:lnSpc>
              <a:spcAft>
                <a:spcPts val="1170"/>
              </a:spcAft>
            </a:pPr>
            <a:r>
              <a:rPr sz="2900" b="1" i="0">
                <a:solidFill>
                  <a:srgbClr val="1D3A8A"/>
                </a:solidFill>
                <a:latin typeface="Sarabun"/>
              </a:rPr>
              <a:t>1  Targets</a:t>
            </a:r>
          </a:p>
          <a:p>
            <a:pPr algn="l">
              <a:lnSpc>
                <a:spcPct val="107000"/>
              </a:lnSpc>
              <a:spcAft>
                <a:spcPts val="1170"/>
              </a:spcAft>
            </a:pPr>
            <a:r>
              <a:rPr sz="2400" b="0" i="0">
                <a:solidFill>
                  <a:srgbClr val="222633"/>
                </a:solidFill>
                <a:latin typeface="Sarabun"/>
              </a:rPr>
              <a:t>Human MGAM (PDB 2QMJ, 1.9 Å) and pancreatic α-amylase (PDB 3BAJ, 2.1 Å), both crystallised with acarbose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51200" y="14616000"/>
            <a:ext cx="4579200" cy="3168000"/>
          </a:xfrm>
          <a:prstGeom prst="roundRect">
            <a:avLst>
              <a:gd name="adj" fmla="val 6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31200" y="14796000"/>
            <a:ext cx="4219200" cy="2880000"/>
          </a:xfrm>
          <a:prstGeom prst="rect">
            <a:avLst/>
          </a:prstGeom>
          <a:noFill/>
        </p:spPr>
        <p:txBody>
          <a:bodyPr wrap="square" anchor="t" lIns="72000" rIns="72000" tIns="72000" bIns="72000">
            <a:spAutoFit/>
          </a:bodyPr>
          <a:lstStyle/>
          <a:p>
            <a:pPr algn="l">
              <a:lnSpc>
                <a:spcPct val="107000"/>
              </a:lnSpc>
              <a:spcAft>
                <a:spcPts val="1170"/>
              </a:spcAft>
            </a:pPr>
            <a:r>
              <a:rPr sz="2900" b="1" i="0">
                <a:solidFill>
                  <a:srgbClr val="1D3A8A"/>
                </a:solidFill>
                <a:latin typeface="Sarabun"/>
              </a:rPr>
              <a:t>2  Protein prep</a:t>
            </a:r>
          </a:p>
          <a:p>
            <a:pPr algn="l">
              <a:lnSpc>
                <a:spcPct val="107000"/>
              </a:lnSpc>
              <a:spcAft>
                <a:spcPts val="1170"/>
              </a:spcAft>
            </a:pPr>
            <a:r>
              <a:rPr sz="2400" b="0" i="0">
                <a:solidFill>
                  <a:srgbClr val="222633"/>
                </a:solidFill>
                <a:latin typeface="Sarabun"/>
              </a:rPr>
              <a:t>PDBFixer: waters and ions removed, missing atoms and hydrogens added at pH 7.4; Meeko PDBQT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2182400" y="14616000"/>
            <a:ext cx="4579200" cy="3168000"/>
          </a:xfrm>
          <a:prstGeom prst="roundRect">
            <a:avLst>
              <a:gd name="adj" fmla="val 6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362400" y="14796000"/>
            <a:ext cx="4219200" cy="2880000"/>
          </a:xfrm>
          <a:prstGeom prst="rect">
            <a:avLst/>
          </a:prstGeom>
          <a:noFill/>
        </p:spPr>
        <p:txBody>
          <a:bodyPr wrap="square" anchor="t" lIns="72000" rIns="72000" tIns="72000" bIns="72000">
            <a:spAutoFit/>
          </a:bodyPr>
          <a:lstStyle/>
          <a:p>
            <a:pPr algn="l">
              <a:lnSpc>
                <a:spcPct val="107000"/>
              </a:lnSpc>
              <a:spcAft>
                <a:spcPts val="1170"/>
              </a:spcAft>
            </a:pPr>
            <a:r>
              <a:rPr sz="2900" b="1" i="0">
                <a:solidFill>
                  <a:srgbClr val="1D3A8A"/>
                </a:solidFill>
                <a:latin typeface="Sarabun"/>
              </a:rPr>
              <a:t>3  Ligands</a:t>
            </a:r>
          </a:p>
          <a:p>
            <a:pPr algn="l">
              <a:lnSpc>
                <a:spcPct val="107000"/>
              </a:lnSpc>
              <a:spcAft>
                <a:spcPts val="1170"/>
              </a:spcAft>
            </a:pPr>
            <a:r>
              <a:rPr sz="2400" b="0" i="0">
                <a:solidFill>
                  <a:srgbClr val="222633"/>
                </a:solidFill>
                <a:latin typeface="Sarabun"/>
              </a:rPr>
              <a:t>12 structures from PubChem; RDKit ETKDG + MMFF94 optimisation; Meeko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7013600" y="14616000"/>
            <a:ext cx="4579200" cy="3168000"/>
          </a:xfrm>
          <a:prstGeom prst="roundRect">
            <a:avLst>
              <a:gd name="adj" fmla="val 6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7193600" y="14796000"/>
            <a:ext cx="4219200" cy="2880000"/>
          </a:xfrm>
          <a:prstGeom prst="rect">
            <a:avLst/>
          </a:prstGeom>
          <a:noFill/>
        </p:spPr>
        <p:txBody>
          <a:bodyPr wrap="square" anchor="t" lIns="72000" rIns="72000" tIns="72000" bIns="72000">
            <a:spAutoFit/>
          </a:bodyPr>
          <a:lstStyle/>
          <a:p>
            <a:pPr algn="l">
              <a:lnSpc>
                <a:spcPct val="107000"/>
              </a:lnSpc>
              <a:spcAft>
                <a:spcPts val="1170"/>
              </a:spcAft>
            </a:pPr>
            <a:r>
              <a:rPr sz="2900" b="1" i="0">
                <a:solidFill>
                  <a:srgbClr val="1D3A8A"/>
                </a:solidFill>
                <a:latin typeface="Sarabun"/>
              </a:rPr>
              <a:t>4  Docking</a:t>
            </a:r>
          </a:p>
          <a:p>
            <a:pPr algn="l">
              <a:lnSpc>
                <a:spcPct val="107000"/>
              </a:lnSpc>
              <a:spcAft>
                <a:spcPts val="1170"/>
              </a:spcAft>
            </a:pPr>
            <a:r>
              <a:rPr sz="2400" b="0" i="0">
                <a:solidFill>
                  <a:srgbClr val="222633"/>
                </a:solidFill>
                <a:latin typeface="Sarabun"/>
              </a:rPr>
              <a:t>AutoDock Vina 1.2.7 in the acarbose site, exhaustiveness 16, 3 independent seeds (78 runs)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1844800" y="14616000"/>
            <a:ext cx="4579200" cy="3168000"/>
          </a:xfrm>
          <a:prstGeom prst="roundRect">
            <a:avLst>
              <a:gd name="adj" fmla="val 6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024800" y="14796000"/>
            <a:ext cx="4219200" cy="2880000"/>
          </a:xfrm>
          <a:prstGeom prst="rect">
            <a:avLst/>
          </a:prstGeom>
          <a:noFill/>
        </p:spPr>
        <p:txBody>
          <a:bodyPr wrap="square" anchor="t" lIns="72000" rIns="72000" tIns="72000" bIns="72000">
            <a:spAutoFit/>
          </a:bodyPr>
          <a:lstStyle/>
          <a:p>
            <a:pPr algn="l">
              <a:lnSpc>
                <a:spcPct val="107000"/>
              </a:lnSpc>
              <a:spcAft>
                <a:spcPts val="1170"/>
              </a:spcAft>
            </a:pPr>
            <a:r>
              <a:rPr sz="2900" b="1" i="0">
                <a:solidFill>
                  <a:srgbClr val="1D3A8A"/>
                </a:solidFill>
                <a:latin typeface="Sarabun"/>
              </a:rPr>
              <a:t>5  Analysis</a:t>
            </a:r>
          </a:p>
          <a:p>
            <a:pPr algn="l">
              <a:lnSpc>
                <a:spcPct val="107000"/>
              </a:lnSpc>
              <a:spcAft>
                <a:spcPts val="1170"/>
              </a:spcAft>
            </a:pPr>
            <a:r>
              <a:rPr sz="2400" b="0" i="0">
                <a:solidFill>
                  <a:srgbClr val="222633"/>
                </a:solidFill>
                <a:latin typeface="Sarabun"/>
              </a:rPr>
              <a:t>ΔΔG vs acarbose; contacts ≤ 4 Å and H-bonds ≤ 3.5 Å per residue; ligand efficiency; score–size regression; logP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20000" y="17892000"/>
            <a:ext cx="23904000" cy="792000"/>
          </a:xfrm>
          <a:prstGeom prst="rect">
            <a:avLst/>
          </a:prstGeom>
          <a:noFill/>
        </p:spPr>
        <p:txBody>
          <a:bodyPr wrap="square" anchor="t" lIns="72000" rIns="72000" tIns="72000" bIns="72000">
            <a:spAutoFit/>
          </a:bodyPr>
          <a:lstStyle/>
          <a:p>
            <a:pPr algn="l">
              <a:lnSpc>
                <a:spcPct val="107000"/>
              </a:lnSpc>
              <a:spcAft>
                <a:spcPts val="1125"/>
              </a:spcAft>
            </a:pPr>
            <a:r>
              <a:rPr sz="2500" b="1" i="0">
                <a:solidFill>
                  <a:srgbClr val="222633"/>
                </a:solidFill>
                <a:latin typeface="Sarabun"/>
              </a:rPr>
              <a:t>Protocol validation: </a:t>
            </a:r>
            <a:r>
              <a:rPr sz="2500" b="0" i="0">
                <a:solidFill>
                  <a:srgbClr val="222633"/>
                </a:solidFill>
                <a:latin typeface="Sarabun"/>
              </a:rPr>
              <a:t>acarbose re-docked from a randomised start returned to its MGAM crystal pose in every run (RMSD 2.04–2.06 Å, n = 3).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520000" y="18576000"/>
            <a:ext cx="23904000" cy="936000"/>
          </a:xfrm>
          <a:prstGeom prst="roundRect">
            <a:avLst>
              <a:gd name="adj" fmla="val 50000"/>
            </a:avLst>
          </a:prstGeom>
          <a:solidFill>
            <a:srgbClr val="1D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0"/>
          <a:lstStyle/>
          <a:p>
            <a:pPr algn="ctr"/>
            <a:r>
              <a:rPr sz="4600" b="1">
                <a:solidFill>
                  <a:srgbClr val="FFFFFF"/>
                </a:solidFill>
                <a:latin typeface="Sarabun"/>
              </a:rPr>
              <a:t>RESULTS  ·  RANKING THE BRAN</a:t>
            </a:r>
          </a:p>
        </p:txBody>
      </p:sp>
      <p:pic>
        <p:nvPicPr>
          <p:cNvPr id="45" name="Picture 44" descr="selectiv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0000" y="19728000"/>
            <a:ext cx="10440000" cy="8533565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2520000" y="28332000"/>
            <a:ext cx="10440000" cy="1007999"/>
          </a:xfrm>
          <a:prstGeom prst="rect">
            <a:avLst/>
          </a:prstGeom>
          <a:noFill/>
        </p:spPr>
        <p:txBody>
          <a:bodyPr wrap="square" anchor="t" lIns="72000" rIns="72000" tIns="72000" bIns="72000">
            <a:spAutoFit/>
          </a:bodyPr>
          <a:lstStyle/>
          <a:p>
            <a:pPr algn="l">
              <a:lnSpc>
                <a:spcPct val="107000"/>
              </a:lnSpc>
              <a:spcAft>
                <a:spcPts val="1080"/>
              </a:spcAft>
            </a:pPr>
            <a:r>
              <a:rPr sz="2400" b="1" i="0">
                <a:solidFill>
                  <a:srgbClr val="222633"/>
                </a:solidFill>
                <a:latin typeface="Sarabun"/>
              </a:rPr>
              <a:t>Fig. 1 </a:t>
            </a:r>
            <a:r>
              <a:rPr sz="2400" b="0" i="0">
                <a:solidFill>
                  <a:srgbClr val="222633"/>
                </a:solidFill>
                <a:latin typeface="Sarabun"/>
              </a:rPr>
              <a:t>Each constituent placed against acarbose on both enzymes (ΔΔG, mean of 3 seeds). Circles dissolve in water, squares do not. The shaded area marks where a usable food candidate would sit.</a:t>
            </a:r>
          </a:p>
        </p:txBody>
      </p:sp>
      <p:pic>
        <p:nvPicPr>
          <p:cNvPr id="47" name="Picture 46" descr="pose_MGAM_cyanidin_3_O_glucosi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64000" y="19728000"/>
            <a:ext cx="6372000" cy="4779000"/>
          </a:xfrm>
          <a:prstGeom prst="rect">
            <a:avLst/>
          </a:prstGeom>
        </p:spPr>
      </p:pic>
      <p:pic>
        <p:nvPicPr>
          <p:cNvPr id="48" name="Picture 47" descr="pose_HPA_cyanidin_3_O_glucosid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52000" y="19728000"/>
            <a:ext cx="6372000" cy="477900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3464000" y="24624000"/>
            <a:ext cx="12960000" cy="1007999"/>
          </a:xfrm>
          <a:prstGeom prst="rect">
            <a:avLst/>
          </a:prstGeom>
          <a:noFill/>
        </p:spPr>
        <p:txBody>
          <a:bodyPr wrap="square" anchor="t" lIns="72000" rIns="72000" tIns="72000" bIns="72000">
            <a:spAutoFit/>
          </a:bodyPr>
          <a:lstStyle/>
          <a:p>
            <a:pPr algn="l">
              <a:lnSpc>
                <a:spcPct val="107000"/>
              </a:lnSpc>
              <a:spcAft>
                <a:spcPts val="1080"/>
              </a:spcAft>
            </a:pPr>
            <a:r>
              <a:rPr sz="2400" b="1" i="0">
                <a:solidFill>
                  <a:srgbClr val="222633"/>
                </a:solidFill>
                <a:latin typeface="Sarabun"/>
              </a:rPr>
              <a:t>Fig. 2 </a:t>
            </a:r>
            <a:r>
              <a:rPr sz="2400" b="0" i="0">
                <a:solidFill>
                  <a:srgbClr val="222633"/>
                </a:solidFill>
                <a:latin typeface="Sarabun"/>
              </a:rPr>
              <a:t>Cyanidin-3-O-glucoside (purple) in α-glucosidase (left) and α-amylase (right). Gold = catalytic residues, green = hydrogen-bond partners.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3464000" y="25704000"/>
            <a:ext cx="12960000" cy="6336000"/>
          </a:xfrm>
          <a:prstGeom prst="roundRect">
            <a:avLst>
              <a:gd name="adj" fmla="val 6000"/>
            </a:avLst>
          </a:prstGeom>
          <a:solidFill>
            <a:srgbClr val="F4EEFF"/>
          </a:solidFill>
          <a:ln w="25400">
            <a:solidFill>
              <a:srgbClr val="7A3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3787999" y="25848000"/>
            <a:ext cx="12312000" cy="6048000"/>
          </a:xfrm>
          <a:prstGeom prst="rect">
            <a:avLst/>
          </a:prstGeom>
          <a:noFill/>
        </p:spPr>
        <p:txBody>
          <a:bodyPr wrap="square" anchor="t" lIns="72000" rIns="72000" tIns="72000" bIns="72000">
            <a:spAutoFit/>
          </a:bodyPr>
          <a:lstStyle/>
          <a:p>
            <a:pPr algn="l">
              <a:lnSpc>
                <a:spcPct val="107000"/>
              </a:lnSpc>
              <a:spcAft>
                <a:spcPts val="950"/>
              </a:spcAft>
            </a:pPr>
            <a:r>
              <a:rPr sz="3000" b="1" i="0">
                <a:solidFill>
                  <a:srgbClr val="C28A00"/>
                </a:solidFill>
                <a:latin typeface="Sarabun"/>
              </a:rPr>
              <a:t>The tightest binder is not the usable one</a:t>
            </a:r>
          </a:p>
          <a:p>
            <a:pPr algn="l">
              <a:lnSpc>
                <a:spcPct val="107000"/>
              </a:lnSpc>
              <a:spcAft>
                <a:spcPts val="950"/>
              </a:spcAft>
            </a:pPr>
            <a:r>
              <a:rPr sz="2500" b="0" i="0">
                <a:solidFill>
                  <a:srgbClr val="222633"/>
                </a:solidFill>
                <a:latin typeface="Sarabun"/>
              </a:rPr>
              <a:t>γ−Oryzanol esters topped the ranking (cycloartenyl ferulate −8.87 / −10.52 kcal/mol), but with logP &gt; 10 they will not dissolve in the gut lumen, and they sit in the bran's oil fraction.</a:t>
            </a:r>
          </a:p>
          <a:p>
            <a:pPr algn="l">
              <a:lnSpc>
                <a:spcPct val="107000"/>
              </a:lnSpc>
              <a:spcAft>
                <a:spcPts val="950"/>
              </a:spcAft>
            </a:pPr>
            <a:r>
              <a:rPr sz="3000" b="1" i="0">
                <a:solidFill>
                  <a:srgbClr val="7A3FD1"/>
                </a:solidFill>
                <a:latin typeface="Sarabun"/>
              </a:rPr>
              <a:t>Anthocyanins are the only soluble front-runners</a:t>
            </a:r>
          </a:p>
          <a:p>
            <a:pPr algn="l">
              <a:lnSpc>
                <a:spcPct val="107000"/>
              </a:lnSpc>
              <a:spcAft>
                <a:spcPts val="950"/>
              </a:spcAft>
            </a:pPr>
            <a:r>
              <a:rPr sz="2500" b="0" i="0">
                <a:solidFill>
                  <a:srgbClr val="222633"/>
                </a:solidFill>
                <a:latin typeface="Sarabun"/>
              </a:rPr>
              <a:t>Cyanidin−3−O−glucoside (−7.71 / −8.09) and peonidin−3−O−glucoside (−7.64 / −8.09) ranked next, hydrogen-bonded the catalytic acids Asp443/Asp542 and Asp197/Glu233, and were the only high-ranking compounds with logP &lt; 0.7.</a:t>
            </a:r>
          </a:p>
          <a:p>
            <a:pPr algn="l">
              <a:lnSpc>
                <a:spcPct val="107000"/>
              </a:lnSpc>
              <a:spcAft>
                <a:spcPts val="950"/>
              </a:spcAft>
            </a:pPr>
            <a:r>
              <a:rPr sz="3000" b="1" i="0">
                <a:solidFill>
                  <a:srgbClr val="1D3A8A"/>
                </a:solidFill>
                <a:latin typeface="Sarabun"/>
              </a:rPr>
              <a:t>Size inflates the score, so efficiency was scored too</a:t>
            </a:r>
          </a:p>
          <a:p>
            <a:pPr algn="l">
              <a:lnSpc>
                <a:spcPct val="107000"/>
              </a:lnSpc>
              <a:spcAft>
                <a:spcPts val="950"/>
              </a:spcAft>
            </a:pPr>
            <a:r>
              <a:rPr sz="2500" b="0" i="0">
                <a:solidFill>
                  <a:srgbClr val="222633"/>
                </a:solidFill>
                <a:latin typeface="Sarabun"/>
              </a:rPr>
              <a:t>Across the panel the predicted affinity rose with molecular size (Pearson r = 0.73, p = 0.007 on MGAM; r = 0.88, p = 0.0002 on HPA). Per heavy atom the anthocyanins bind more efficiently than the γ-oryzanol esters (0.24 vs 0.20 kcal/mol/atom on MGAM) and than acarbose (0.14).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520000" y="32328000"/>
            <a:ext cx="23904000" cy="936000"/>
          </a:xfrm>
          <a:prstGeom prst="roundRect">
            <a:avLst>
              <a:gd name="adj" fmla="val 50000"/>
            </a:avLst>
          </a:prstGeom>
          <a:solidFill>
            <a:srgbClr val="7A3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0"/>
          <a:lstStyle/>
          <a:p>
            <a:pPr algn="ctr"/>
            <a:r>
              <a:rPr sz="4600" b="1">
                <a:solidFill>
                  <a:srgbClr val="FFFFFF"/>
                </a:solidFill>
                <a:latin typeface="Sarabun"/>
              </a:rPr>
              <a:t>FROM SCREEN TO PRODUCT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520000" y="33480000"/>
            <a:ext cx="7728000" cy="4464000"/>
          </a:xfrm>
          <a:prstGeom prst="roundRect">
            <a:avLst>
              <a:gd name="adj" fmla="val 6000"/>
            </a:avLst>
          </a:prstGeom>
          <a:solidFill>
            <a:srgbClr val="EEF2FB"/>
          </a:solidFill>
          <a:ln w="25400">
            <a:solidFill>
              <a:srgbClr val="168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808000" y="33660000"/>
            <a:ext cx="7152000" cy="4104000"/>
          </a:xfrm>
          <a:prstGeom prst="rect">
            <a:avLst/>
          </a:prstGeom>
          <a:noFill/>
        </p:spPr>
        <p:txBody>
          <a:bodyPr wrap="square" anchor="t" lIns="72000" rIns="72000" tIns="72000" bIns="72000">
            <a:spAutoFit/>
          </a:bodyPr>
          <a:lstStyle/>
          <a:p>
            <a:pPr algn="l">
              <a:lnSpc>
                <a:spcPct val="107000"/>
              </a:lnSpc>
              <a:spcAft>
                <a:spcPts val="1125"/>
              </a:spcAft>
            </a:pPr>
            <a:r>
              <a:rPr sz="3000" b="1" i="0">
                <a:solidFill>
                  <a:srgbClr val="168A55"/>
                </a:solidFill>
                <a:latin typeface="Sarabun"/>
              </a:rPr>
              <a:t>① Take this fraction</a:t>
            </a:r>
          </a:p>
          <a:p>
            <a:pPr algn="l">
              <a:lnSpc>
                <a:spcPct val="107000"/>
              </a:lnSpc>
              <a:spcAft>
                <a:spcPts val="1125"/>
              </a:spcAft>
            </a:pPr>
            <a:r>
              <a:rPr sz="2500" b="0" i="0">
                <a:solidFill>
                  <a:srgbClr val="222633"/>
                </a:solidFill>
                <a:latin typeface="Sarabun"/>
              </a:rPr>
              <a:t>The </a:t>
            </a:r>
            <a:r>
              <a:rPr sz="2500" b="1" i="0">
                <a:solidFill>
                  <a:srgbClr val="222633"/>
                </a:solidFill>
                <a:latin typeface="Sarabun"/>
              </a:rPr>
              <a:t>acidified aqueous extract</a:t>
            </a:r>
            <a:r>
              <a:rPr sz="2500" b="0" i="0">
                <a:solidFill>
                  <a:srgbClr val="222633"/>
                </a:solidFill>
                <a:latin typeface="Sarabun"/>
              </a:rPr>
              <a:t> of fresh Riceberry bran — the anthocyanin-bearing fraction.</a:t>
            </a:r>
          </a:p>
          <a:p>
            <a:pPr algn="l">
              <a:lnSpc>
                <a:spcPct val="107000"/>
              </a:lnSpc>
              <a:spcAft>
                <a:spcPts val="1125"/>
              </a:spcAft>
            </a:pPr>
            <a:r>
              <a:rPr sz="2500" b="0" i="0">
                <a:solidFill>
                  <a:srgbClr val="222633"/>
                </a:solidFill>
                <a:latin typeface="Sarabun"/>
              </a:rPr>
              <a:t>Not whole bran, not the oil fraction: the γ-oryzanol that ranks highest sits in the oil and will not dissolve.</a:t>
            </a:r>
          </a:p>
          <a:p>
            <a:pPr algn="l">
              <a:lnSpc>
                <a:spcPct val="107000"/>
              </a:lnSpc>
              <a:spcAft>
                <a:spcPts val="1125"/>
              </a:spcAft>
            </a:pPr>
            <a:r>
              <a:rPr sz="2500" b="0" i="1">
                <a:solidFill>
                  <a:srgbClr val="222633"/>
                </a:solidFill>
                <a:latin typeface="Sarabun"/>
              </a:rPr>
              <a:t>Bran must be fresh; it turns rancid within weeks.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608000" y="33480000"/>
            <a:ext cx="7728000" cy="4464000"/>
          </a:xfrm>
          <a:prstGeom prst="roundRect">
            <a:avLst>
              <a:gd name="adj" fmla="val 6000"/>
            </a:avLst>
          </a:prstGeom>
          <a:solidFill>
            <a:srgbClr val="EEF2FB"/>
          </a:solidFill>
          <a:ln w="25400">
            <a:solidFill>
              <a:srgbClr val="1D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896000" y="33660000"/>
            <a:ext cx="7152000" cy="4104000"/>
          </a:xfrm>
          <a:prstGeom prst="rect">
            <a:avLst/>
          </a:prstGeom>
          <a:noFill/>
        </p:spPr>
        <p:txBody>
          <a:bodyPr wrap="square" anchor="t" lIns="72000" rIns="72000" tIns="72000" bIns="72000">
            <a:spAutoFit/>
          </a:bodyPr>
          <a:lstStyle/>
          <a:p>
            <a:pPr algn="l">
              <a:lnSpc>
                <a:spcPct val="107000"/>
              </a:lnSpc>
              <a:spcAft>
                <a:spcPts val="1125"/>
              </a:spcAft>
            </a:pPr>
            <a:r>
              <a:rPr sz="3000" b="1" i="0">
                <a:solidFill>
                  <a:srgbClr val="1D3A8A"/>
                </a:solidFill>
                <a:latin typeface="Sarabun"/>
              </a:rPr>
              <a:t>② Prove it on the bench</a:t>
            </a:r>
          </a:p>
          <a:p>
            <a:pPr algn="l">
              <a:lnSpc>
                <a:spcPct val="107000"/>
              </a:lnSpc>
              <a:spcAft>
                <a:spcPts val="1125"/>
              </a:spcAft>
            </a:pPr>
            <a:r>
              <a:rPr sz="2500" b="1" i="0">
                <a:solidFill>
                  <a:srgbClr val="222633"/>
                </a:solidFill>
                <a:latin typeface="Sarabun"/>
              </a:rPr>
              <a:t>Two-enzyme IC₅₀, not one.</a:t>
            </a:r>
            <a:r>
              <a:rPr sz="2500" b="0" i="0">
                <a:solidFill>
                  <a:srgbClr val="222633"/>
                </a:solidFill>
                <a:latin typeface="Sarabun"/>
              </a:rPr>
              <a:t> Run α-glucosidase and α-amylase assays side by side against acarbose.</a:t>
            </a:r>
          </a:p>
          <a:p>
            <a:pPr algn="l">
              <a:lnSpc>
                <a:spcPct val="107000"/>
              </a:lnSpc>
              <a:spcAft>
                <a:spcPts val="1125"/>
              </a:spcAft>
            </a:pPr>
            <a:r>
              <a:rPr sz="2500" b="0" i="0">
                <a:solidFill>
                  <a:srgbClr val="222633"/>
                </a:solidFill>
                <a:latin typeface="Sarabun"/>
              </a:rPr>
              <a:t>Report a </a:t>
            </a:r>
            <a:r>
              <a:rPr sz="2500" b="1" i="0">
                <a:solidFill>
                  <a:srgbClr val="222633"/>
                </a:solidFill>
                <a:latin typeface="Sarabun"/>
              </a:rPr>
              <a:t>selectivity index</a:t>
            </a:r>
            <a:r>
              <a:rPr sz="2500" b="0" i="0">
                <a:solidFill>
                  <a:srgbClr val="222633"/>
                </a:solidFill>
                <a:latin typeface="Sarabun"/>
              </a:rPr>
              <a:t> (IC₅₀ amylase ÷ IC₅₀ glucosidase) so potency and selectivity are measured, not inferred.</a:t>
            </a:r>
          </a:p>
          <a:p>
            <a:pPr algn="l">
              <a:lnSpc>
                <a:spcPct val="107000"/>
              </a:lnSpc>
              <a:spcAft>
                <a:spcPts val="1125"/>
              </a:spcAft>
            </a:pPr>
            <a:r>
              <a:rPr sz="2500" b="0" i="0">
                <a:solidFill>
                  <a:srgbClr val="222633"/>
                </a:solidFill>
                <a:latin typeface="Sarabun"/>
              </a:rPr>
              <a:t>Quantify anthocyanin by pH-differential (520/700 nm) as cyanidin-3-glucoside equivalents.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8696000" y="33480000"/>
            <a:ext cx="7728000" cy="4464000"/>
          </a:xfrm>
          <a:prstGeom prst="roundRect">
            <a:avLst>
              <a:gd name="adj" fmla="val 6000"/>
            </a:avLst>
          </a:prstGeom>
          <a:solidFill>
            <a:srgbClr val="EEF2FB"/>
          </a:solidFill>
          <a:ln w="25400">
            <a:solidFill>
              <a:srgbClr val="7A3F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8984000" y="33660000"/>
            <a:ext cx="7152000" cy="4104000"/>
          </a:xfrm>
          <a:prstGeom prst="rect">
            <a:avLst/>
          </a:prstGeom>
          <a:noFill/>
        </p:spPr>
        <p:txBody>
          <a:bodyPr wrap="square" anchor="t" lIns="72000" rIns="72000" tIns="72000" bIns="72000">
            <a:spAutoFit/>
          </a:bodyPr>
          <a:lstStyle/>
          <a:p>
            <a:pPr algn="l">
              <a:lnSpc>
                <a:spcPct val="107000"/>
              </a:lnSpc>
              <a:spcAft>
                <a:spcPts val="1125"/>
              </a:spcAft>
            </a:pPr>
            <a:r>
              <a:rPr sz="3000" b="1" i="0">
                <a:solidFill>
                  <a:srgbClr val="7A3FD1"/>
                </a:solidFill>
                <a:latin typeface="Sarabun"/>
              </a:rPr>
              <a:t>③ Build it into food</a:t>
            </a:r>
          </a:p>
          <a:p>
            <a:pPr algn="l">
              <a:lnSpc>
                <a:spcPct val="107000"/>
              </a:lnSpc>
              <a:spcAft>
                <a:spcPts val="1125"/>
              </a:spcAft>
            </a:pPr>
            <a:r>
              <a:rPr sz="2500" b="0" i="0">
                <a:solidFill>
                  <a:srgbClr val="222633"/>
                </a:solidFill>
                <a:latin typeface="Sarabun"/>
              </a:rPr>
              <a:t>Anthocyanins survive </a:t>
            </a:r>
            <a:r>
              <a:rPr sz="2500" b="1" i="0">
                <a:solidFill>
                  <a:srgbClr val="222633"/>
                </a:solidFill>
                <a:latin typeface="Sarabun"/>
              </a:rPr>
              <a:t>acid and short heat</a:t>
            </a:r>
            <a:r>
              <a:rPr sz="2500" b="0" i="0">
                <a:solidFill>
                  <a:srgbClr val="222633"/>
                </a:solidFill>
                <a:latin typeface="Sarabun"/>
              </a:rPr>
              <a:t>, not long baking. The prototype is a no-added-sugar jelly drink: pH 3.2–3.5, 80 °C for 1 min, hot-filled.</a:t>
            </a:r>
          </a:p>
          <a:p>
            <a:pPr algn="l">
              <a:lnSpc>
                <a:spcPct val="107000"/>
              </a:lnSpc>
              <a:spcAft>
                <a:spcPts val="1125"/>
              </a:spcAft>
            </a:pPr>
            <a:r>
              <a:rPr sz="2500" b="0" i="0">
                <a:solidFill>
                  <a:srgbClr val="222633"/>
                </a:solidFill>
                <a:latin typeface="Sarabun"/>
              </a:rPr>
              <a:t>Three extract levels (20/30/40%), 9-point hedonic test, n ≥ 30.</a:t>
            </a:r>
          </a:p>
          <a:p>
            <a:pPr algn="l">
              <a:lnSpc>
                <a:spcPct val="107000"/>
              </a:lnSpc>
              <a:spcAft>
                <a:spcPts val="1125"/>
              </a:spcAft>
            </a:pPr>
            <a:r>
              <a:rPr sz="2500" b="0" i="1">
                <a:solidFill>
                  <a:srgbClr val="222633"/>
                </a:solidFill>
                <a:latin typeface="Sarabun"/>
              </a:rPr>
              <a:t>Label claims stay factual: no health claim without FDA approval.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520000" y="38088000"/>
            <a:ext cx="23904000" cy="936000"/>
          </a:xfrm>
          <a:prstGeom prst="roundRect">
            <a:avLst>
              <a:gd name="adj" fmla="val 50000"/>
            </a:avLst>
          </a:prstGeom>
          <a:solidFill>
            <a:srgbClr val="1D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0"/>
          <a:lstStyle/>
          <a:p>
            <a:pPr algn="ctr"/>
            <a:r>
              <a:rPr sz="4600" b="1">
                <a:solidFill>
                  <a:srgbClr val="FFFFFF"/>
                </a:solidFill>
                <a:latin typeface="Sarabun"/>
              </a:rPr>
              <a:t>CONCLUSION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520000" y="39240000"/>
            <a:ext cx="20304000" cy="3384000"/>
          </a:xfrm>
          <a:prstGeom prst="rect">
            <a:avLst/>
          </a:prstGeom>
          <a:noFill/>
        </p:spPr>
        <p:txBody>
          <a:bodyPr wrap="square" anchor="t" lIns="72000" rIns="72000" tIns="72000" bIns="72000">
            <a:spAutoFit/>
          </a:bodyPr>
          <a:lstStyle/>
          <a:p>
            <a:pPr algn="l">
              <a:lnSpc>
                <a:spcPct val="107000"/>
              </a:lnSpc>
              <a:spcAft>
                <a:spcPts val="1215"/>
              </a:spcAft>
            </a:pPr>
            <a:r>
              <a:rPr sz="2700" b="0" i="0">
                <a:solidFill>
                  <a:srgbClr val="222633"/>
                </a:solidFill>
                <a:latin typeface="Sarabun"/>
              </a:rPr>
              <a:t>Scoring binding </a:t>
            </a:r>
            <a:r>
              <a:rPr sz="2700" b="1" i="0">
                <a:solidFill>
                  <a:srgbClr val="7A3FD1"/>
                </a:solidFill>
                <a:latin typeface="Sarabun"/>
              </a:rPr>
              <a:t>together with solubility</a:t>
            </a:r>
            <a:r>
              <a:rPr sz="2700" b="0" i="0">
                <a:solidFill>
                  <a:srgbClr val="222633"/>
                </a:solidFill>
                <a:latin typeface="Sarabun"/>
              </a:rPr>
              <a:t> changes which molecule a food project should chase. The highest-scoring constituents of Riceberry bran, the </a:t>
            </a:r>
            <a:r>
              <a:rPr sz="2700" b="1" i="0">
                <a:solidFill>
                  <a:srgbClr val="222633"/>
                </a:solidFill>
                <a:latin typeface="Sarabun"/>
              </a:rPr>
              <a:t>γ-oryzanol esters</a:t>
            </a:r>
            <a:r>
              <a:rPr sz="2700" b="0" i="0">
                <a:solidFill>
                  <a:srgbClr val="222633"/>
                </a:solidFill>
                <a:latin typeface="Sarabun"/>
              </a:rPr>
              <a:t>, cannot dissolve where the enzymes work; the </a:t>
            </a:r>
            <a:r>
              <a:rPr sz="2700" b="1" i="0">
                <a:solidFill>
                  <a:srgbClr val="222633"/>
                </a:solidFill>
                <a:latin typeface="Sarabun"/>
              </a:rPr>
              <a:t>anthocyanins</a:t>
            </a:r>
            <a:r>
              <a:rPr sz="2700" b="0" i="0">
                <a:solidFill>
                  <a:srgbClr val="222633"/>
                </a:solidFill>
                <a:latin typeface="Sarabun"/>
              </a:rPr>
              <a:t> rank just below them and are the only front-runners that can.</a:t>
            </a:r>
          </a:p>
          <a:p>
            <a:pPr algn="l">
              <a:lnSpc>
                <a:spcPct val="107000"/>
              </a:lnSpc>
              <a:spcAft>
                <a:spcPts val="1215"/>
              </a:spcAft>
            </a:pPr>
            <a:r>
              <a:rPr sz="2700" b="0" i="0">
                <a:solidFill>
                  <a:srgbClr val="222633"/>
                </a:solidFill>
                <a:latin typeface="Sarabun"/>
              </a:rPr>
              <a:t>This turns a rice-mill by-product into one defined fraction to extract and one assay that would settle it, instead of a vague claim about rice bran being healthy.</a:t>
            </a:r>
          </a:p>
          <a:p>
            <a:pPr algn="l">
              <a:lnSpc>
                <a:spcPct val="107000"/>
              </a:lnSpc>
              <a:spcAft>
                <a:spcPts val="1215"/>
              </a:spcAft>
            </a:pPr>
            <a:r>
              <a:rPr sz="2700" b="1" i="0">
                <a:solidFill>
                  <a:srgbClr val="1D3A8A"/>
                </a:solidFill>
                <a:latin typeface="Sarabun"/>
              </a:rPr>
              <a:t>What this cannot tell you. </a:t>
            </a:r>
            <a:r>
              <a:rPr sz="2700" b="0" i="0">
                <a:solidFill>
                  <a:srgbClr val="222633"/>
                </a:solidFill>
                <a:latin typeface="Sarabun"/>
              </a:rPr>
              <a:t>Docking ranks predicted binding, not inhibitory potency or selectivity; differences below ~1 kcal/mol sit inside the scoring error. Prior in vitro work established that these anthocyanins do inhibit both enzymes, and the two-enzyme IC₅₀ comparison above is what would rank them. No health claim is made here.</a:t>
            </a:r>
          </a:p>
        </p:txBody>
      </p:sp>
      <p:pic>
        <p:nvPicPr>
          <p:cNvPr id="61" name="Picture 60" descr="q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364000" y="39240000"/>
            <a:ext cx="3060000" cy="306000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22428000" y="42408000"/>
            <a:ext cx="4068000" cy="720000"/>
          </a:xfrm>
          <a:prstGeom prst="rect">
            <a:avLst/>
          </a:prstGeom>
          <a:noFill/>
        </p:spPr>
        <p:txBody>
          <a:bodyPr wrap="square" anchor="t" lIns="72000" rIns="72000" tIns="72000" bIns="72000">
            <a:spAutoFit/>
          </a:bodyPr>
          <a:lstStyle/>
          <a:p>
            <a:pPr algn="ctr">
              <a:lnSpc>
                <a:spcPct val="107000"/>
              </a:lnSpc>
              <a:spcAft>
                <a:spcPts val="1170"/>
              </a:spcAft>
            </a:pPr>
            <a:r>
              <a:rPr sz="2300" b="1" i="0">
                <a:solidFill>
                  <a:srgbClr val="1D3A8A"/>
                </a:solidFill>
                <a:latin typeface="Sarabun"/>
              </a:rPr>
              <a:t>Rotate the binding sites in 3D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520000" y="43380000"/>
            <a:ext cx="23904000" cy="1152000"/>
          </a:xfrm>
          <a:prstGeom prst="rect">
            <a:avLst/>
          </a:prstGeom>
          <a:noFill/>
        </p:spPr>
        <p:txBody>
          <a:bodyPr wrap="square" anchor="t" lIns="72000" rIns="72000" tIns="72000" bIns="72000">
            <a:spAutoFit/>
          </a:bodyPr>
          <a:lstStyle/>
          <a:p>
            <a:pPr algn="l">
              <a:lnSpc>
                <a:spcPct val="107000"/>
              </a:lnSpc>
              <a:spcAft>
                <a:spcPts val="855"/>
              </a:spcAft>
            </a:pPr>
            <a:r>
              <a:rPr sz="1900" b="1" i="0">
                <a:solidFill>
                  <a:srgbClr val="222633"/>
                </a:solidFill>
                <a:latin typeface="Sarabun"/>
              </a:rPr>
              <a:t>Structures </a:t>
            </a:r>
            <a:r>
              <a:rPr sz="1900" b="0" i="0">
                <a:solidFill>
                  <a:srgbClr val="222633"/>
                </a:solidFill>
                <a:latin typeface="Sarabun"/>
              </a:rPr>
              <a:t>PDB 2QMJ (Sim et al., J Mol Biol 2008) and 3BAJ (Maurus et al., Biochemistry 2008).  </a:t>
            </a:r>
            <a:r>
              <a:rPr sz="1900" b="1" i="0">
                <a:solidFill>
                  <a:srgbClr val="222633"/>
                </a:solidFill>
                <a:latin typeface="Sarabun"/>
              </a:rPr>
              <a:t>Software </a:t>
            </a:r>
            <a:r>
              <a:rPr sz="1900" b="0" i="0">
                <a:solidFill>
                  <a:srgbClr val="222633"/>
                </a:solidFill>
                <a:latin typeface="Sarabun"/>
              </a:rPr>
              <a:t>AutoDock Vina 1.2.7 (Eberhardt et al., JCIM 2021); Meeko; RDKit; PDBFixer. Ligands from PubChem.  </a:t>
            </a:r>
            <a:r>
              <a:rPr sz="1900" b="1" i="0">
                <a:solidFill>
                  <a:srgbClr val="222633"/>
                </a:solidFill>
                <a:latin typeface="Sarabun"/>
              </a:rPr>
              <a:t>Prior in vitro data </a:t>
            </a:r>
            <a:r>
              <a:rPr sz="1900" b="0" i="0">
                <a:solidFill>
                  <a:srgbClr val="222633"/>
                </a:solidFill>
                <a:latin typeface="Sarabun"/>
              </a:rPr>
              <a:t>Akkarachiyasit et al., Int J Mol Sci 2010;11:3387.  </a:t>
            </a:r>
            <a:r>
              <a:rPr sz="1900" b="1" i="0">
                <a:solidFill>
                  <a:srgbClr val="222633"/>
                </a:solidFill>
                <a:latin typeface="Sarabun"/>
              </a:rPr>
              <a:t>Acarbose tolerability </a:t>
            </a:r>
            <a:r>
              <a:rPr sz="1900" b="0" i="0">
                <a:solidFill>
                  <a:srgbClr val="222633"/>
                </a:solidFill>
                <a:latin typeface="Sarabun"/>
              </a:rPr>
              <a:t>US prescribing information.  All scripts and raw results via the QR link.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83</Words>
  <Application>Microsoft Office PowerPoint</Application>
  <PresentationFormat>Custom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Sarabun Bold</vt:lpstr>
      <vt:lpstr>Calibri</vt:lpstr>
      <vt:lpstr>Inter Italics</vt:lpstr>
      <vt:lpstr>Inter</vt:lpstr>
      <vt:lpstr>Sarabun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Abstract_INMU50Y_template</dc:title>
  <dc:creator>Kanrayarat</dc:creator>
  <cp:lastModifiedBy>kanrayarat kongyu</cp:lastModifiedBy>
  <cp:revision>3</cp:revision>
  <dcterms:created xsi:type="dcterms:W3CDTF">2006-08-16T00:00:00Z</dcterms:created>
  <dcterms:modified xsi:type="dcterms:W3CDTF">2026-07-08T02:55:29Z</dcterms:modified>
  <dc:identifier>DAHM5FUZxQc</dc:identifier>
</cp:coreProperties>
</file>